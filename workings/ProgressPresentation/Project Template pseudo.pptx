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11501" y="347372"/>
            <a:ext cx="1542796" cy="477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F6A00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6A00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6A00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6A00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3314" y="105750"/>
            <a:ext cx="447230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F6A00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8290" y="746315"/>
            <a:ext cx="5189220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magda.gregorova@thws.de" TargetMode="External"/><Relationship Id="rId3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6540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dirty="0">
                <a:latin typeface="Tahoma"/>
                <a:cs typeface="Tahoma"/>
              </a:rPr>
              <a:t>MAI</a:t>
            </a:r>
            <a:r>
              <a:rPr dirty="0" spc="20">
                <a:latin typeface="Tahoma"/>
                <a:cs typeface="Tahoma"/>
              </a:rPr>
              <a:t> </a:t>
            </a:r>
            <a:r>
              <a:rPr dirty="0" spc="-10">
                <a:latin typeface="Tahoma"/>
                <a:cs typeface="Tahoma"/>
              </a:rPr>
              <a:t>Project</a:t>
            </a:r>
            <a:r>
              <a:rPr dirty="0" spc="20">
                <a:latin typeface="Tahoma"/>
                <a:cs typeface="Tahoma"/>
              </a:rPr>
              <a:t> </a:t>
            </a:r>
            <a:r>
              <a:rPr dirty="0" spc="-10">
                <a:latin typeface="Tahoma"/>
                <a:cs typeface="Tahoma"/>
              </a:rPr>
              <a:t>Pitches</a:t>
            </a:r>
          </a:p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dirty="0" sz="1000" spc="-20">
                <a:latin typeface="Tahoma"/>
                <a:cs typeface="Tahoma"/>
              </a:rPr>
              <a:t>SS25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70">
                <a:latin typeface="Tahoma"/>
                <a:cs typeface="Tahoma"/>
              </a:rPr>
              <a:t>&amp;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WS25/26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601876" y="1108778"/>
            <a:ext cx="25571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ahoma"/>
                <a:cs typeface="Tahoma"/>
              </a:rPr>
              <a:t>Magda </a:t>
            </a:r>
            <a:r>
              <a:rPr dirty="0" sz="1000" spc="-45">
                <a:latin typeface="Tahoma"/>
                <a:cs typeface="Tahoma"/>
              </a:rPr>
              <a:t>Gregorová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80">
                <a:latin typeface="Tahoma"/>
                <a:cs typeface="Tahoma"/>
              </a:rPr>
              <a:t>—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  <a:hlinkClick r:id="rId2"/>
              </a:rPr>
              <a:t>magda.gregorova@thws.de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08095" y="1571823"/>
            <a:ext cx="1296098" cy="64956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036025" y="2504324"/>
            <a:ext cx="1688464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solidFill>
                  <a:srgbClr val="005463"/>
                </a:solidFill>
                <a:latin typeface="Tahoma"/>
                <a:cs typeface="Tahoma"/>
              </a:rPr>
              <a:t>Licensed</a:t>
            </a:r>
            <a:r>
              <a:rPr dirty="0" sz="800" spc="80">
                <a:solidFill>
                  <a:srgbClr val="005463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005463"/>
                </a:solidFill>
                <a:latin typeface="Tahoma"/>
                <a:cs typeface="Tahoma"/>
              </a:rPr>
              <a:t>according</a:t>
            </a:r>
            <a:r>
              <a:rPr dirty="0" sz="800" spc="80">
                <a:solidFill>
                  <a:srgbClr val="005463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005463"/>
                </a:solidFill>
                <a:latin typeface="Tahoma"/>
                <a:cs typeface="Tahoma"/>
              </a:rPr>
              <a:t>to</a:t>
            </a:r>
            <a:r>
              <a:rPr dirty="0" sz="800" spc="80">
                <a:solidFill>
                  <a:srgbClr val="005463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005463"/>
                </a:solidFill>
                <a:latin typeface="Tahoma"/>
                <a:cs typeface="Tahoma"/>
              </a:rPr>
              <a:t>CC-BY-</a:t>
            </a:r>
            <a:r>
              <a:rPr dirty="0" sz="800" spc="55">
                <a:solidFill>
                  <a:srgbClr val="005463"/>
                </a:solidFill>
                <a:latin typeface="Tahoma"/>
                <a:cs typeface="Tahoma"/>
              </a:rPr>
              <a:t>SA</a:t>
            </a:r>
            <a:r>
              <a:rPr dirty="0" sz="800" spc="80">
                <a:solidFill>
                  <a:srgbClr val="005463"/>
                </a:solidFill>
                <a:latin typeface="Tahoma"/>
                <a:cs typeface="Tahoma"/>
              </a:rPr>
              <a:t> </a:t>
            </a:r>
            <a:r>
              <a:rPr dirty="0" sz="800" spc="-25">
                <a:solidFill>
                  <a:srgbClr val="005463"/>
                </a:solidFill>
                <a:latin typeface="Tahoma"/>
                <a:cs typeface="Tahoma"/>
              </a:rPr>
              <a:t>4.0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14"/>
              <a:t>Study</a:t>
            </a:r>
            <a:r>
              <a:rPr dirty="0" spc="15"/>
              <a:t> </a:t>
            </a:r>
            <a:r>
              <a:rPr dirty="0" spc="-114"/>
              <a:t>Organization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5804" y="84472"/>
            <a:ext cx="552090" cy="27669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14604" y="401299"/>
            <a:ext cx="2299335" cy="1669414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278130" marR="285750" indent="-253365">
              <a:lnSpc>
                <a:spcPct val="116900"/>
              </a:lnSpc>
              <a:spcBef>
                <a:spcPts val="160"/>
              </a:spcBef>
            </a:pPr>
            <a:r>
              <a:rPr dirty="0" sz="1200" spc="-25">
                <a:solidFill>
                  <a:srgbClr val="005463"/>
                </a:solidFill>
                <a:latin typeface="Tahoma"/>
                <a:cs typeface="Tahoma"/>
              </a:rPr>
              <a:t>1st</a:t>
            </a:r>
            <a:r>
              <a:rPr dirty="0" sz="1200" spc="-50">
                <a:solidFill>
                  <a:srgbClr val="005463"/>
                </a:solidFill>
                <a:latin typeface="Tahoma"/>
                <a:cs typeface="Tahoma"/>
              </a:rPr>
              <a:t> </a:t>
            </a:r>
            <a:r>
              <a:rPr dirty="0" sz="1200" spc="-70">
                <a:solidFill>
                  <a:srgbClr val="005463"/>
                </a:solidFill>
                <a:latin typeface="Tahoma"/>
                <a:cs typeface="Tahoma"/>
              </a:rPr>
              <a:t>semester:</a:t>
            </a:r>
            <a:r>
              <a:rPr dirty="0" sz="1200" spc="65">
                <a:solidFill>
                  <a:srgbClr val="005463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005463"/>
                </a:solidFill>
                <a:latin typeface="Tahoma"/>
                <a:cs typeface="Tahoma"/>
              </a:rPr>
              <a:t>Scientific</a:t>
            </a:r>
            <a:r>
              <a:rPr dirty="0" sz="1200" spc="-45">
                <a:solidFill>
                  <a:srgbClr val="005463"/>
                </a:solidFill>
                <a:latin typeface="Tahoma"/>
                <a:cs typeface="Tahoma"/>
              </a:rPr>
              <a:t> </a:t>
            </a:r>
            <a:r>
              <a:rPr dirty="0" sz="1200" spc="-65">
                <a:solidFill>
                  <a:srgbClr val="005463"/>
                </a:solidFill>
                <a:latin typeface="Tahoma"/>
                <a:cs typeface="Tahoma"/>
              </a:rPr>
              <a:t>Seminar </a:t>
            </a:r>
            <a:r>
              <a:rPr dirty="0" sz="1000">
                <a:latin typeface="Tahoma"/>
                <a:cs typeface="Tahoma"/>
              </a:rPr>
              <a:t>5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ECTS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(week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12-</a:t>
            </a:r>
            <a:r>
              <a:rPr dirty="0" sz="1000" spc="-20">
                <a:latin typeface="Tahoma"/>
                <a:cs typeface="Tahoma"/>
              </a:rPr>
              <a:t>16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May) </a:t>
            </a:r>
            <a:r>
              <a:rPr dirty="0" sz="1000" spc="-10">
                <a:latin typeface="Tahoma"/>
                <a:cs typeface="Tahoma"/>
              </a:rPr>
              <a:t>Scientific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skills:</a:t>
            </a:r>
            <a:endParaRPr sz="1000">
              <a:latin typeface="Tahoma"/>
              <a:cs typeface="Tahoma"/>
            </a:endParaRPr>
          </a:p>
          <a:p>
            <a:pPr marL="530860" indent="-121285">
              <a:lnSpc>
                <a:spcPct val="100000"/>
              </a:lnSpc>
              <a:spcBef>
                <a:spcPts val="195"/>
              </a:spcBef>
              <a:buClr>
                <a:srgbClr val="005463"/>
              </a:buClr>
              <a:buFont typeface="Arial"/>
              <a:buChar char="•"/>
              <a:tabLst>
                <a:tab pos="530860" algn="l"/>
              </a:tabLst>
            </a:pPr>
            <a:r>
              <a:rPr dirty="0" sz="900" spc="-20">
                <a:latin typeface="Tahoma"/>
                <a:cs typeface="Tahoma"/>
              </a:rPr>
              <a:t>planning</a:t>
            </a:r>
            <a:r>
              <a:rPr dirty="0" sz="900" spc="1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academic</a:t>
            </a:r>
            <a:r>
              <a:rPr dirty="0" sz="900" spc="1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projects</a:t>
            </a:r>
            <a:endParaRPr sz="900">
              <a:latin typeface="Tahoma"/>
              <a:cs typeface="Tahoma"/>
            </a:endParaRPr>
          </a:p>
          <a:p>
            <a:pPr marL="530860" indent="-121285">
              <a:lnSpc>
                <a:spcPct val="100000"/>
              </a:lnSpc>
              <a:spcBef>
                <a:spcPts val="20"/>
              </a:spcBef>
              <a:buClr>
                <a:srgbClr val="005463"/>
              </a:buClr>
              <a:buFont typeface="Arial"/>
              <a:buChar char="•"/>
              <a:tabLst>
                <a:tab pos="530860" algn="l"/>
              </a:tabLst>
            </a:pPr>
            <a:r>
              <a:rPr dirty="0" sz="900" spc="-10">
                <a:latin typeface="Tahoma"/>
                <a:cs typeface="Tahoma"/>
              </a:rPr>
              <a:t>identifying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and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evaluating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resources</a:t>
            </a:r>
            <a:endParaRPr sz="900">
              <a:latin typeface="Tahoma"/>
              <a:cs typeface="Tahoma"/>
            </a:endParaRPr>
          </a:p>
          <a:p>
            <a:pPr marL="530860" indent="-121285">
              <a:lnSpc>
                <a:spcPct val="100000"/>
              </a:lnSpc>
              <a:spcBef>
                <a:spcPts val="15"/>
              </a:spcBef>
              <a:buClr>
                <a:srgbClr val="005463"/>
              </a:buClr>
              <a:buFont typeface="Arial"/>
              <a:buChar char="•"/>
              <a:tabLst>
                <a:tab pos="530860" algn="l"/>
              </a:tabLst>
            </a:pPr>
            <a:r>
              <a:rPr dirty="0" sz="900" spc="-10">
                <a:latin typeface="Tahoma"/>
                <a:cs typeface="Tahoma"/>
              </a:rPr>
              <a:t>academic/scientific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writing</a:t>
            </a:r>
            <a:endParaRPr sz="900">
              <a:latin typeface="Tahoma"/>
              <a:cs typeface="Tahoma"/>
            </a:endParaRPr>
          </a:p>
          <a:p>
            <a:pPr marL="278130">
              <a:lnSpc>
                <a:spcPct val="100000"/>
              </a:lnSpc>
              <a:spcBef>
                <a:spcPts val="215"/>
              </a:spcBef>
            </a:pPr>
            <a:r>
              <a:rPr dirty="0" sz="1000" spc="-10">
                <a:latin typeface="Tahoma"/>
                <a:cs typeface="Tahoma"/>
              </a:rPr>
              <a:t>Evaluation:</a:t>
            </a:r>
            <a:endParaRPr sz="1000">
              <a:latin typeface="Tahoma"/>
              <a:cs typeface="Tahoma"/>
            </a:endParaRPr>
          </a:p>
          <a:p>
            <a:pPr marL="530860" indent="-121285">
              <a:lnSpc>
                <a:spcPct val="100000"/>
              </a:lnSpc>
              <a:spcBef>
                <a:spcPts val="195"/>
              </a:spcBef>
              <a:buClr>
                <a:srgbClr val="005463"/>
              </a:buClr>
              <a:buFont typeface="Arial"/>
              <a:buChar char="•"/>
              <a:tabLst>
                <a:tab pos="530860" algn="l"/>
              </a:tabLst>
            </a:pPr>
            <a:r>
              <a:rPr dirty="0" sz="900" spc="-10">
                <a:latin typeface="Tahoma"/>
                <a:cs typeface="Tahoma"/>
              </a:rPr>
              <a:t>participation</a:t>
            </a:r>
            <a:r>
              <a:rPr dirty="0" sz="900" spc="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in</a:t>
            </a:r>
            <a:r>
              <a:rPr dirty="0" sz="900" spc="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activities</a:t>
            </a:r>
            <a:endParaRPr sz="900">
              <a:latin typeface="Tahoma"/>
              <a:cs typeface="Tahoma"/>
            </a:endParaRPr>
          </a:p>
          <a:p>
            <a:pPr marL="530860" indent="-121285">
              <a:lnSpc>
                <a:spcPct val="100000"/>
              </a:lnSpc>
              <a:spcBef>
                <a:spcPts val="15"/>
              </a:spcBef>
              <a:buClr>
                <a:srgbClr val="005463"/>
              </a:buClr>
              <a:buFont typeface="Arial"/>
              <a:buChar char="•"/>
              <a:tabLst>
                <a:tab pos="530860" algn="l"/>
              </a:tabLst>
            </a:pPr>
            <a:r>
              <a:rPr dirty="0" sz="900" spc="-10">
                <a:latin typeface="Tahoma"/>
                <a:cs typeface="Tahoma"/>
              </a:rPr>
              <a:t>project</a:t>
            </a:r>
            <a:r>
              <a:rPr dirty="0" sz="900" spc="-6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plan</a:t>
            </a:r>
            <a:r>
              <a:rPr dirty="0" sz="900" spc="-5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proposal</a:t>
            </a:r>
            <a:endParaRPr sz="900">
              <a:latin typeface="Tahoma"/>
              <a:cs typeface="Tahoma"/>
            </a:endParaRPr>
          </a:p>
          <a:p>
            <a:pPr marL="530860" indent="-121285">
              <a:lnSpc>
                <a:spcPct val="100000"/>
              </a:lnSpc>
              <a:spcBef>
                <a:spcPts val="15"/>
              </a:spcBef>
              <a:buClr>
                <a:srgbClr val="005463"/>
              </a:buClr>
              <a:buFont typeface="Arial"/>
              <a:buChar char="•"/>
              <a:tabLst>
                <a:tab pos="530860" algn="l"/>
              </a:tabLst>
            </a:pPr>
            <a:r>
              <a:rPr dirty="0" sz="900" spc="-10">
                <a:latin typeface="Tahoma"/>
                <a:cs typeface="Tahoma"/>
              </a:rPr>
              <a:t>pass/fail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61894" y="401299"/>
            <a:ext cx="2499360" cy="1669414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5"/>
              </a:spcBef>
            </a:pPr>
            <a:r>
              <a:rPr dirty="0" sz="1200" spc="-55">
                <a:solidFill>
                  <a:srgbClr val="005463"/>
                </a:solidFill>
                <a:latin typeface="Tahoma"/>
                <a:cs typeface="Tahoma"/>
              </a:rPr>
              <a:t>2nd</a:t>
            </a:r>
            <a:r>
              <a:rPr dirty="0" sz="1200" spc="-40">
                <a:solidFill>
                  <a:srgbClr val="005463"/>
                </a:solidFill>
                <a:latin typeface="Tahoma"/>
                <a:cs typeface="Tahoma"/>
              </a:rPr>
              <a:t> </a:t>
            </a:r>
            <a:r>
              <a:rPr dirty="0" sz="1200" spc="-70">
                <a:solidFill>
                  <a:srgbClr val="005463"/>
                </a:solidFill>
                <a:latin typeface="Tahoma"/>
                <a:cs typeface="Tahoma"/>
              </a:rPr>
              <a:t>semester:</a:t>
            </a:r>
            <a:r>
              <a:rPr dirty="0" sz="1200" spc="60">
                <a:solidFill>
                  <a:srgbClr val="005463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005463"/>
                </a:solidFill>
                <a:latin typeface="Tahoma"/>
                <a:cs typeface="Tahoma"/>
              </a:rPr>
              <a:t>Project</a:t>
            </a:r>
            <a:r>
              <a:rPr dirty="0" sz="1200" spc="-50">
                <a:solidFill>
                  <a:srgbClr val="00546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005463"/>
                </a:solidFill>
                <a:latin typeface="Tahoma"/>
                <a:cs typeface="Tahoma"/>
              </a:rPr>
              <a:t>Module</a:t>
            </a:r>
            <a:endParaRPr sz="1200">
              <a:latin typeface="Tahoma"/>
              <a:cs typeface="Tahoma"/>
            </a:endParaRPr>
          </a:p>
          <a:p>
            <a:pPr marL="290830" marR="30480">
              <a:lnSpc>
                <a:spcPct val="116199"/>
              </a:lnSpc>
              <a:spcBef>
                <a:spcPts val="60"/>
              </a:spcBef>
            </a:pPr>
            <a:r>
              <a:rPr dirty="0" sz="1000" spc="-20">
                <a:latin typeface="Tahoma"/>
                <a:cs typeface="Tahoma"/>
              </a:rPr>
              <a:t>10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ECTS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(300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hrs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220" i="1">
                <a:latin typeface="Arial"/>
                <a:cs typeface="Arial"/>
              </a:rPr>
              <a:t>≈</a:t>
            </a:r>
            <a:r>
              <a:rPr dirty="0" sz="1000" spc="2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months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full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time) </a:t>
            </a:r>
            <a:r>
              <a:rPr dirty="0" sz="1000">
                <a:latin typeface="Tahoma"/>
                <a:cs typeface="Tahoma"/>
              </a:rPr>
              <a:t>Project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work:</a:t>
            </a:r>
            <a:endParaRPr sz="1000">
              <a:latin typeface="Tahoma"/>
              <a:cs typeface="Tahoma"/>
            </a:endParaRPr>
          </a:p>
          <a:p>
            <a:pPr marL="543560" indent="-121285">
              <a:lnSpc>
                <a:spcPct val="100000"/>
              </a:lnSpc>
              <a:spcBef>
                <a:spcPts val="195"/>
              </a:spcBef>
              <a:buClr>
                <a:srgbClr val="005463"/>
              </a:buClr>
              <a:buFont typeface="Arial"/>
              <a:buChar char="•"/>
              <a:tabLst>
                <a:tab pos="543560" algn="l"/>
              </a:tabLst>
            </a:pPr>
            <a:r>
              <a:rPr dirty="0" sz="900" spc="-20">
                <a:latin typeface="Tahoma"/>
                <a:cs typeface="Tahoma"/>
              </a:rPr>
              <a:t>group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project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(3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students)</a:t>
            </a:r>
            <a:endParaRPr sz="900">
              <a:latin typeface="Tahoma"/>
              <a:cs typeface="Tahoma"/>
            </a:endParaRPr>
          </a:p>
          <a:p>
            <a:pPr marL="543560" indent="-121285">
              <a:lnSpc>
                <a:spcPct val="100000"/>
              </a:lnSpc>
              <a:spcBef>
                <a:spcPts val="15"/>
              </a:spcBef>
              <a:buClr>
                <a:srgbClr val="005463"/>
              </a:buClr>
              <a:buFont typeface="Arial"/>
              <a:buChar char="•"/>
              <a:tabLst>
                <a:tab pos="543560" algn="l"/>
              </a:tabLst>
            </a:pPr>
            <a:r>
              <a:rPr dirty="0" sz="900" spc="-30">
                <a:latin typeface="Tahoma"/>
                <a:cs typeface="Tahoma"/>
              </a:rPr>
              <a:t>independent,</a:t>
            </a:r>
            <a:r>
              <a:rPr dirty="0" sz="900" spc="20">
                <a:latin typeface="Tahoma"/>
                <a:cs typeface="Tahoma"/>
              </a:rPr>
              <a:t> </a:t>
            </a:r>
            <a:r>
              <a:rPr dirty="0" sz="900" spc="-35">
                <a:latin typeface="Tahoma"/>
                <a:cs typeface="Tahoma"/>
              </a:rPr>
              <a:t>self-</a:t>
            </a:r>
            <a:r>
              <a:rPr dirty="0" sz="900" spc="-30">
                <a:latin typeface="Tahoma"/>
                <a:cs typeface="Tahoma"/>
              </a:rPr>
              <a:t>organized</a:t>
            </a:r>
            <a:r>
              <a:rPr dirty="0" sz="900" spc="2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work</a:t>
            </a:r>
            <a:endParaRPr sz="900">
              <a:latin typeface="Tahoma"/>
              <a:cs typeface="Tahoma"/>
            </a:endParaRPr>
          </a:p>
          <a:p>
            <a:pPr marL="543560" indent="-121285">
              <a:lnSpc>
                <a:spcPct val="100000"/>
              </a:lnSpc>
              <a:spcBef>
                <a:spcPts val="15"/>
              </a:spcBef>
              <a:buClr>
                <a:srgbClr val="005463"/>
              </a:buClr>
              <a:buFont typeface="Arial"/>
              <a:buChar char="•"/>
              <a:tabLst>
                <a:tab pos="543560" algn="l"/>
              </a:tabLst>
            </a:pPr>
            <a:r>
              <a:rPr dirty="0" sz="900" spc="-20">
                <a:latin typeface="Tahoma"/>
                <a:cs typeface="Tahoma"/>
              </a:rPr>
              <a:t>applied</a:t>
            </a:r>
            <a:r>
              <a:rPr dirty="0" sz="900" spc="-10">
                <a:latin typeface="Tahoma"/>
                <a:cs typeface="Tahoma"/>
              </a:rPr>
              <a:t> research</a:t>
            </a:r>
            <a:endParaRPr sz="900">
              <a:latin typeface="Tahoma"/>
              <a:cs typeface="Tahoma"/>
            </a:endParaRPr>
          </a:p>
          <a:p>
            <a:pPr marL="290830">
              <a:lnSpc>
                <a:spcPct val="100000"/>
              </a:lnSpc>
              <a:spcBef>
                <a:spcPts val="215"/>
              </a:spcBef>
            </a:pPr>
            <a:r>
              <a:rPr dirty="0" sz="1000" spc="-10">
                <a:latin typeface="Tahoma"/>
                <a:cs typeface="Tahoma"/>
              </a:rPr>
              <a:t>Evaluation:</a:t>
            </a:r>
            <a:endParaRPr sz="1000">
              <a:latin typeface="Tahoma"/>
              <a:cs typeface="Tahoma"/>
            </a:endParaRPr>
          </a:p>
          <a:p>
            <a:pPr marL="543560" indent="-121285">
              <a:lnSpc>
                <a:spcPct val="100000"/>
              </a:lnSpc>
              <a:spcBef>
                <a:spcPts val="195"/>
              </a:spcBef>
              <a:buClr>
                <a:srgbClr val="005463"/>
              </a:buClr>
              <a:buFont typeface="Arial"/>
              <a:buChar char="•"/>
              <a:tabLst>
                <a:tab pos="543560" algn="l"/>
              </a:tabLst>
            </a:pPr>
            <a:r>
              <a:rPr dirty="0" sz="900" spc="-10">
                <a:latin typeface="Tahoma"/>
                <a:cs typeface="Tahoma"/>
              </a:rPr>
              <a:t>contribution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</a:t>
            </a:r>
            <a:r>
              <a:rPr dirty="0" sz="900" spc="1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project</a:t>
            </a:r>
            <a:endParaRPr sz="900">
              <a:latin typeface="Tahoma"/>
              <a:cs typeface="Tahoma"/>
            </a:endParaRPr>
          </a:p>
          <a:p>
            <a:pPr marL="543560" indent="-121285">
              <a:lnSpc>
                <a:spcPct val="100000"/>
              </a:lnSpc>
              <a:spcBef>
                <a:spcPts val="20"/>
              </a:spcBef>
              <a:buClr>
                <a:srgbClr val="005463"/>
              </a:buClr>
              <a:buFont typeface="Arial"/>
              <a:buChar char="•"/>
              <a:tabLst>
                <a:tab pos="543560" algn="l"/>
              </a:tabLst>
            </a:pPr>
            <a:r>
              <a:rPr dirty="0" sz="900" spc="-10">
                <a:latin typeface="Tahoma"/>
                <a:cs typeface="Tahoma"/>
              </a:rPr>
              <a:t>project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scientific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paper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(conference)</a:t>
            </a:r>
            <a:endParaRPr sz="900">
              <a:latin typeface="Tahoma"/>
              <a:cs typeface="Tahoma"/>
            </a:endParaRPr>
          </a:p>
          <a:p>
            <a:pPr marL="543560" indent="-121285">
              <a:lnSpc>
                <a:spcPct val="100000"/>
              </a:lnSpc>
              <a:spcBef>
                <a:spcPts val="15"/>
              </a:spcBef>
              <a:buClr>
                <a:srgbClr val="005463"/>
              </a:buClr>
              <a:buFont typeface="Arial"/>
              <a:buChar char="•"/>
              <a:tabLst>
                <a:tab pos="543560" algn="l"/>
              </a:tabLst>
            </a:pPr>
            <a:r>
              <a:rPr dirty="0" sz="900" spc="-10">
                <a:latin typeface="Tahoma"/>
                <a:cs typeface="Tahoma"/>
              </a:rPr>
              <a:t>project</a:t>
            </a:r>
            <a:r>
              <a:rPr dirty="0" sz="900" spc="-25">
                <a:latin typeface="Tahoma"/>
                <a:cs typeface="Tahoma"/>
              </a:rPr>
              <a:t> demo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(start-up)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14883" y="2175273"/>
            <a:ext cx="4888230" cy="91630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200" spc="-45">
                <a:solidFill>
                  <a:srgbClr val="005463"/>
                </a:solidFill>
                <a:latin typeface="Tahoma"/>
                <a:cs typeface="Tahoma"/>
              </a:rPr>
              <a:t>Strategy</a:t>
            </a:r>
            <a:r>
              <a:rPr dirty="0" sz="1200" spc="-30">
                <a:solidFill>
                  <a:srgbClr val="005463"/>
                </a:solidFill>
                <a:latin typeface="Tahoma"/>
                <a:cs typeface="Tahoma"/>
              </a:rPr>
              <a:t> </a:t>
            </a:r>
            <a:r>
              <a:rPr dirty="0" sz="1200" spc="-65">
                <a:solidFill>
                  <a:srgbClr val="005463"/>
                </a:solidFill>
                <a:latin typeface="Tahoma"/>
                <a:cs typeface="Tahoma"/>
              </a:rPr>
              <a:t>recommendation:</a:t>
            </a:r>
            <a:r>
              <a:rPr dirty="0" sz="1200" spc="110">
                <a:solidFill>
                  <a:srgbClr val="005463"/>
                </a:solidFill>
                <a:latin typeface="Tahoma"/>
                <a:cs typeface="Tahoma"/>
              </a:rPr>
              <a:t> </a:t>
            </a:r>
            <a:r>
              <a:rPr dirty="0" sz="1200" spc="-100">
                <a:latin typeface="Tahoma"/>
                <a:cs typeface="Tahoma"/>
              </a:rPr>
              <a:t>use</a:t>
            </a:r>
            <a:r>
              <a:rPr dirty="0" sz="1200" spc="10">
                <a:latin typeface="Tahoma"/>
                <a:cs typeface="Tahoma"/>
              </a:rPr>
              <a:t> </a:t>
            </a:r>
            <a:r>
              <a:rPr dirty="0" sz="1200" spc="-35">
                <a:latin typeface="Tahoma"/>
                <a:cs typeface="Tahoma"/>
              </a:rPr>
              <a:t>scientific</a:t>
            </a:r>
            <a:r>
              <a:rPr dirty="0" sz="1200" spc="-10">
                <a:latin typeface="Tahoma"/>
                <a:cs typeface="Tahoma"/>
              </a:rPr>
              <a:t> </a:t>
            </a:r>
            <a:r>
              <a:rPr dirty="0" sz="1200" spc="-75">
                <a:latin typeface="Tahoma"/>
                <a:cs typeface="Tahoma"/>
              </a:rPr>
              <a:t>seminar</a:t>
            </a:r>
            <a:r>
              <a:rPr dirty="0" sz="1200" spc="-10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to</a:t>
            </a:r>
            <a:r>
              <a:rPr dirty="0" sz="1200" spc="-10">
                <a:latin typeface="Tahoma"/>
                <a:cs typeface="Tahoma"/>
              </a:rPr>
              <a:t> </a:t>
            </a:r>
            <a:r>
              <a:rPr dirty="0" sz="1200" spc="-85">
                <a:latin typeface="Tahoma"/>
                <a:cs typeface="Tahoma"/>
              </a:rPr>
              <a:t>prepare</a:t>
            </a:r>
            <a:r>
              <a:rPr dirty="0" sz="1200" spc="-10">
                <a:latin typeface="Tahoma"/>
                <a:cs typeface="Tahoma"/>
              </a:rPr>
              <a:t> </a:t>
            </a:r>
            <a:r>
              <a:rPr dirty="0" sz="1200" spc="-45">
                <a:latin typeface="Tahoma"/>
                <a:cs typeface="Tahoma"/>
              </a:rPr>
              <a:t>for</a:t>
            </a:r>
            <a:r>
              <a:rPr dirty="0" sz="1200" spc="-15">
                <a:latin typeface="Tahoma"/>
                <a:cs typeface="Tahoma"/>
              </a:rPr>
              <a:t> </a:t>
            </a:r>
            <a:r>
              <a:rPr dirty="0" sz="1200" spc="-50">
                <a:latin typeface="Tahoma"/>
                <a:cs typeface="Tahoma"/>
              </a:rPr>
              <a:t>project</a:t>
            </a:r>
            <a:r>
              <a:rPr dirty="0" sz="1200" spc="-15">
                <a:latin typeface="Tahoma"/>
                <a:cs typeface="Tahoma"/>
              </a:rPr>
              <a:t> </a:t>
            </a:r>
            <a:r>
              <a:rPr dirty="0" sz="1200" spc="-10">
                <a:latin typeface="Tahoma"/>
                <a:cs typeface="Tahoma"/>
              </a:rPr>
              <a:t>module</a:t>
            </a:r>
            <a:endParaRPr sz="1200">
              <a:latin typeface="Tahoma"/>
              <a:cs typeface="Tahoma"/>
            </a:endParaRPr>
          </a:p>
          <a:p>
            <a:pPr marL="198120" marR="2089150">
              <a:lnSpc>
                <a:spcPts val="1360"/>
              </a:lnSpc>
              <a:spcBef>
                <a:spcPts val="50"/>
              </a:spcBef>
            </a:pPr>
            <a:r>
              <a:rPr dirty="0" sz="1000" spc="-40">
                <a:latin typeface="Tahoma"/>
                <a:cs typeface="Tahoma"/>
              </a:rPr>
              <a:t>choose</a:t>
            </a:r>
            <a:r>
              <a:rPr dirty="0" sz="1000" spc="-30">
                <a:latin typeface="Tahoma"/>
                <a:cs typeface="Tahoma"/>
              </a:rPr>
              <a:t> project </a:t>
            </a:r>
            <a:r>
              <a:rPr dirty="0" sz="1000">
                <a:latin typeface="Tahoma"/>
                <a:cs typeface="Tahoma"/>
              </a:rPr>
              <a:t>topic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that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you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are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interested</a:t>
            </a:r>
            <a:r>
              <a:rPr dirty="0" sz="1000" spc="-25">
                <a:latin typeface="Tahoma"/>
                <a:cs typeface="Tahoma"/>
              </a:rPr>
              <a:t> in </a:t>
            </a:r>
            <a:r>
              <a:rPr dirty="0" sz="1000" spc="-40">
                <a:latin typeface="Tahoma"/>
                <a:cs typeface="Tahoma"/>
              </a:rPr>
              <a:t>learn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about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topic,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identify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resources,</a:t>
            </a:r>
            <a:r>
              <a:rPr dirty="0" sz="1000" spc="-20">
                <a:latin typeface="Tahoma"/>
                <a:cs typeface="Tahoma"/>
              </a:rPr>
              <a:t> plan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project</a:t>
            </a:r>
            <a:endParaRPr sz="1000">
              <a:latin typeface="Tahoma"/>
              <a:cs typeface="Tahoma"/>
            </a:endParaRPr>
          </a:p>
          <a:p>
            <a:pPr marL="198120">
              <a:lnSpc>
                <a:spcPct val="100000"/>
              </a:lnSpc>
              <a:spcBef>
                <a:spcPts val="80"/>
              </a:spcBef>
            </a:pPr>
            <a:r>
              <a:rPr dirty="0" sz="1000" spc="-25">
                <a:latin typeface="Tahoma"/>
                <a:cs typeface="Tahoma"/>
              </a:rPr>
              <a:t>form </a:t>
            </a:r>
            <a:r>
              <a:rPr dirty="0" sz="1000" spc="-35">
                <a:latin typeface="Tahoma"/>
                <a:cs typeface="Tahoma"/>
              </a:rPr>
              <a:t>group,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prepare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project</a:t>
            </a:r>
            <a:r>
              <a:rPr dirty="0" sz="1000" spc="-20">
                <a:latin typeface="Tahoma"/>
                <a:cs typeface="Tahoma"/>
              </a:rPr>
              <a:t> plan </a:t>
            </a:r>
            <a:r>
              <a:rPr dirty="0" sz="1000" spc="-35">
                <a:latin typeface="Tahoma"/>
                <a:cs typeface="Tahoma"/>
              </a:rPr>
              <a:t>proposal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70">
                <a:latin typeface="Tahoma"/>
                <a:cs typeface="Tahoma"/>
              </a:rPr>
              <a:t>&amp;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apply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supervisor</a:t>
            </a:r>
            <a:endParaRPr sz="1000">
              <a:latin typeface="Tahoma"/>
              <a:cs typeface="Tahoma"/>
            </a:endParaRPr>
          </a:p>
          <a:p>
            <a:pPr marL="198120">
              <a:lnSpc>
                <a:spcPct val="100000"/>
              </a:lnSpc>
              <a:spcBef>
                <a:spcPts val="155"/>
              </a:spcBef>
            </a:pPr>
            <a:r>
              <a:rPr dirty="0" sz="1000" spc="-25">
                <a:latin typeface="Tahoma"/>
                <a:cs typeface="Tahoma"/>
              </a:rPr>
              <a:t>focus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courses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develop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project-</a:t>
            </a:r>
            <a:r>
              <a:rPr dirty="0" sz="1000" spc="-30">
                <a:latin typeface="Tahoma"/>
                <a:cs typeface="Tahoma"/>
              </a:rPr>
              <a:t>relevant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skills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556846" y="3122913"/>
            <a:ext cx="14922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0">
                <a:solidFill>
                  <a:srgbClr val="FF6A00"/>
                </a:solidFill>
                <a:latin typeface="Tahoma"/>
                <a:cs typeface="Tahoma"/>
              </a:rPr>
              <a:t>2</a:t>
            </a:r>
            <a:r>
              <a:rPr dirty="0" sz="500" spc="-65">
                <a:solidFill>
                  <a:srgbClr val="FF6A00"/>
                </a:solidFill>
                <a:latin typeface="Tahoma"/>
                <a:cs typeface="Tahoma"/>
              </a:rPr>
              <a:t> </a:t>
            </a:r>
            <a:r>
              <a:rPr dirty="0" sz="500" spc="75">
                <a:solidFill>
                  <a:srgbClr val="FF6A00"/>
                </a:solidFill>
                <a:latin typeface="Tahoma"/>
                <a:cs typeface="Tahoma"/>
              </a:rPr>
              <a:t>/</a:t>
            </a:r>
            <a:r>
              <a:rPr dirty="0" sz="500" spc="-65">
                <a:solidFill>
                  <a:srgbClr val="FF6A00"/>
                </a:solidFill>
                <a:latin typeface="Tahoma"/>
                <a:cs typeface="Tahoma"/>
              </a:rPr>
              <a:t> </a:t>
            </a:r>
            <a:r>
              <a:rPr dirty="0" sz="500" spc="-50">
                <a:solidFill>
                  <a:srgbClr val="FF6A00"/>
                </a:solidFill>
                <a:latin typeface="Tahoma"/>
                <a:cs typeface="Tahoma"/>
              </a:rPr>
              <a:t>7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95"/>
              <a:t>SVG</a:t>
            </a:r>
            <a:r>
              <a:rPr dirty="0" spc="25"/>
              <a:t> </a:t>
            </a:r>
            <a:r>
              <a:rPr dirty="0" spc="-145"/>
              <a:t>generation</a:t>
            </a:r>
            <a:r>
              <a:rPr dirty="0" spc="30"/>
              <a:t> </a:t>
            </a:r>
            <a:r>
              <a:rPr dirty="0" spc="-100"/>
              <a:t>for</a:t>
            </a:r>
            <a:r>
              <a:rPr dirty="0" spc="30"/>
              <a:t> </a:t>
            </a:r>
            <a:r>
              <a:rPr dirty="0" spc="-145"/>
              <a:t>fashion</a:t>
            </a:r>
            <a:r>
              <a:rPr dirty="0" spc="30"/>
              <a:t> </a:t>
            </a:r>
            <a:r>
              <a:rPr dirty="0" spc="-100"/>
              <a:t>print</a:t>
            </a:r>
            <a:r>
              <a:rPr dirty="0" spc="25"/>
              <a:t> </a:t>
            </a:r>
            <a:r>
              <a:rPr dirty="0" spc="-140"/>
              <a:t>design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5804" y="84472"/>
            <a:ext cx="552090" cy="27669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14604" y="432248"/>
            <a:ext cx="2486025" cy="248158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5"/>
              </a:spcBef>
            </a:pPr>
            <a:r>
              <a:rPr dirty="0" sz="1200" spc="-10">
                <a:solidFill>
                  <a:srgbClr val="005463"/>
                </a:solidFill>
                <a:latin typeface="Tahoma"/>
                <a:cs typeface="Tahoma"/>
              </a:rPr>
              <a:t>Aims:</a:t>
            </a:r>
            <a:endParaRPr sz="12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54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10">
                <a:latin typeface="Tahoma"/>
                <a:cs typeface="Tahoma"/>
              </a:rPr>
              <a:t>Pipeline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generating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SVG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images</a:t>
            </a:r>
            <a:endParaRPr sz="10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95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>
                <a:latin typeface="Tahoma"/>
                <a:cs typeface="Tahoma"/>
              </a:rPr>
              <a:t>Start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from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text-</a:t>
            </a:r>
            <a:r>
              <a:rPr dirty="0" sz="1000" spc="-25">
                <a:latin typeface="Tahoma"/>
                <a:cs typeface="Tahoma"/>
              </a:rPr>
              <a:t>prompt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raster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image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005463"/>
                </a:solidFill>
                <a:latin typeface="Tahoma"/>
                <a:cs typeface="Tahoma"/>
              </a:rPr>
              <a:t>Challenge:</a:t>
            </a:r>
            <a:endParaRPr sz="12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50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10">
                <a:latin typeface="Tahoma"/>
                <a:cs typeface="Tahoma"/>
              </a:rPr>
              <a:t>Possibility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30">
                <a:latin typeface="Tahoma"/>
                <a:cs typeface="Tahoma"/>
              </a:rPr>
              <a:t> manipulate </a:t>
            </a:r>
            <a:r>
              <a:rPr dirty="0" sz="1000" spc="-10">
                <a:latin typeface="Tahoma"/>
                <a:cs typeface="Tahoma"/>
              </a:rPr>
              <a:t>objects</a:t>
            </a:r>
            <a:endParaRPr sz="10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95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>
                <a:latin typeface="Tahoma"/>
                <a:cs typeface="Tahoma"/>
              </a:rPr>
              <a:t>Ability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generate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text</a:t>
            </a:r>
            <a:endParaRPr sz="10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95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>
                <a:latin typeface="Tahoma"/>
                <a:cs typeface="Tahoma"/>
              </a:rPr>
              <a:t>Multimodal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deep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generative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modeling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005463"/>
                </a:solidFill>
                <a:latin typeface="Tahoma"/>
                <a:cs typeface="Tahoma"/>
              </a:rPr>
              <a:t>Expectations:</a:t>
            </a:r>
            <a:endParaRPr sz="12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54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35">
                <a:latin typeface="Tahoma"/>
                <a:cs typeface="Tahoma"/>
              </a:rPr>
              <a:t>Comparative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analysis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existing</a:t>
            </a:r>
            <a:r>
              <a:rPr dirty="0" sz="1000" spc="-10">
                <a:latin typeface="Tahoma"/>
                <a:cs typeface="Tahoma"/>
              </a:rPr>
              <a:t> methods</a:t>
            </a:r>
            <a:endParaRPr sz="10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95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40">
                <a:latin typeface="Tahoma"/>
                <a:cs typeface="Tahoma"/>
              </a:rPr>
              <a:t>Codebase </a:t>
            </a:r>
            <a:r>
              <a:rPr dirty="0" sz="1000">
                <a:latin typeface="Tahoma"/>
                <a:cs typeface="Tahoma"/>
              </a:rPr>
              <a:t>with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recommended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pipiline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005463"/>
                </a:solidFill>
                <a:latin typeface="Tahoma"/>
                <a:cs typeface="Tahoma"/>
              </a:rPr>
              <a:t>Refs:</a:t>
            </a:r>
            <a:endParaRPr sz="1200">
              <a:latin typeface="Tahoma"/>
              <a:cs typeface="Tahoma"/>
            </a:endParaRPr>
          </a:p>
          <a:p>
            <a:pPr marL="276225" marR="260985" indent="-125095">
              <a:lnSpc>
                <a:spcPct val="100000"/>
              </a:lnSpc>
              <a:spcBef>
                <a:spcPts val="254"/>
              </a:spcBef>
              <a:buClr>
                <a:srgbClr val="005463"/>
              </a:buClr>
              <a:buFont typeface="Arial"/>
              <a:buChar char="•"/>
              <a:tabLst>
                <a:tab pos="278130" algn="l"/>
              </a:tabLst>
            </a:pPr>
            <a:r>
              <a:rPr dirty="0" sz="1000" spc="-45">
                <a:latin typeface="Tahoma"/>
                <a:cs typeface="Tahoma"/>
              </a:rPr>
              <a:t>arXiv:2306.06441,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arXiv:2312.11334, </a:t>
            </a:r>
            <a:r>
              <a:rPr dirty="0" sz="1000" spc="-35">
                <a:latin typeface="Tahoma"/>
                <a:cs typeface="Tahoma"/>
              </a:rPr>
              <a:t>	</a:t>
            </a:r>
            <a:r>
              <a:rPr dirty="0" sz="1000" spc="-45">
                <a:latin typeface="Tahoma"/>
                <a:cs typeface="Tahoma"/>
              </a:rPr>
              <a:t>arXiv:2501.03992,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arXiv:2406.05404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19995" y="431982"/>
            <a:ext cx="1439926" cy="15407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19995" y="720022"/>
            <a:ext cx="1619886" cy="2130378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95300" y="2980560"/>
            <a:ext cx="1976755" cy="243204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200" spc="-45">
                <a:solidFill>
                  <a:srgbClr val="FF6A00"/>
                </a:solidFill>
                <a:latin typeface="Arial Black"/>
                <a:cs typeface="Arial Black"/>
              </a:rPr>
              <a:t>Prof.</a:t>
            </a:r>
            <a:r>
              <a:rPr dirty="0" sz="1200" spc="-5">
                <a:solidFill>
                  <a:srgbClr val="FF6A00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FF6A00"/>
                </a:solidFill>
                <a:latin typeface="Arial Black"/>
                <a:cs typeface="Arial Black"/>
              </a:rPr>
              <a:t>Dr.</a:t>
            </a:r>
            <a:r>
              <a:rPr dirty="0" sz="1200" spc="65">
                <a:solidFill>
                  <a:srgbClr val="FF6A00"/>
                </a:solidFill>
                <a:latin typeface="Arial Black"/>
                <a:cs typeface="Arial Black"/>
              </a:rPr>
              <a:t> </a:t>
            </a:r>
            <a:r>
              <a:rPr dirty="0" sz="1200" spc="-120">
                <a:solidFill>
                  <a:srgbClr val="FF6A00"/>
                </a:solidFill>
                <a:latin typeface="Arial Black"/>
                <a:cs typeface="Arial Black"/>
              </a:rPr>
              <a:t>Magda</a:t>
            </a:r>
            <a:r>
              <a:rPr dirty="0" sz="1200" spc="20">
                <a:solidFill>
                  <a:srgbClr val="FF6A00"/>
                </a:solidFill>
                <a:latin typeface="Arial Black"/>
                <a:cs typeface="Arial Black"/>
              </a:rPr>
              <a:t> </a:t>
            </a:r>
            <a:r>
              <a:rPr dirty="0" sz="1200" spc="-135">
                <a:solidFill>
                  <a:srgbClr val="FF6A00"/>
                </a:solidFill>
                <a:latin typeface="Arial Black"/>
                <a:cs typeface="Arial Black"/>
              </a:rPr>
              <a:t>Gregorová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556846" y="3113171"/>
            <a:ext cx="14922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20">
                <a:solidFill>
                  <a:srgbClr val="FF6A00"/>
                </a:solidFill>
                <a:latin typeface="Tahoma"/>
                <a:cs typeface="Tahoma"/>
              </a:rPr>
              <a:t>3</a:t>
            </a:r>
            <a:r>
              <a:rPr dirty="0" sz="500" spc="-65">
                <a:solidFill>
                  <a:srgbClr val="FF6A00"/>
                </a:solidFill>
                <a:latin typeface="Tahoma"/>
                <a:cs typeface="Tahoma"/>
              </a:rPr>
              <a:t> </a:t>
            </a:r>
            <a:r>
              <a:rPr dirty="0" sz="500" spc="75">
                <a:solidFill>
                  <a:srgbClr val="FF6A00"/>
                </a:solidFill>
                <a:latin typeface="Tahoma"/>
                <a:cs typeface="Tahoma"/>
              </a:rPr>
              <a:t>/</a:t>
            </a:r>
            <a:r>
              <a:rPr dirty="0" sz="500" spc="-65">
                <a:solidFill>
                  <a:srgbClr val="FF6A00"/>
                </a:solidFill>
                <a:latin typeface="Tahoma"/>
                <a:cs typeface="Tahoma"/>
              </a:rPr>
              <a:t> </a:t>
            </a:r>
            <a:r>
              <a:rPr dirty="0" sz="500" spc="-50">
                <a:solidFill>
                  <a:srgbClr val="FF6A00"/>
                </a:solidFill>
                <a:latin typeface="Tahoma"/>
                <a:cs typeface="Tahoma"/>
              </a:rPr>
              <a:t>7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314" y="105750"/>
            <a:ext cx="388747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50"/>
              <a:t>Tracking</a:t>
            </a:r>
            <a:r>
              <a:rPr dirty="0" spc="30"/>
              <a:t> </a:t>
            </a:r>
            <a:r>
              <a:rPr dirty="0" spc="-140"/>
              <a:t>and</a:t>
            </a:r>
            <a:r>
              <a:rPr dirty="0" spc="25"/>
              <a:t> </a:t>
            </a:r>
            <a:r>
              <a:rPr dirty="0"/>
              <a:t>3D</a:t>
            </a:r>
            <a:r>
              <a:rPr dirty="0" spc="15"/>
              <a:t> </a:t>
            </a:r>
            <a:r>
              <a:rPr dirty="0" spc="-125"/>
              <a:t>triangulation</a:t>
            </a:r>
            <a:r>
              <a:rPr dirty="0" spc="25"/>
              <a:t> </a:t>
            </a:r>
            <a:r>
              <a:rPr dirty="0" spc="-55"/>
              <a:t>of</a:t>
            </a:r>
            <a:r>
              <a:rPr dirty="0" spc="20"/>
              <a:t> </a:t>
            </a:r>
            <a:r>
              <a:rPr dirty="0" spc="-135"/>
              <a:t>moving</a:t>
            </a:r>
            <a:r>
              <a:rPr dirty="0" spc="25"/>
              <a:t> </a:t>
            </a:r>
            <a:r>
              <a:rPr dirty="0" spc="-130"/>
              <a:t>mice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5804" y="84472"/>
            <a:ext cx="552090" cy="27669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14604" y="425924"/>
            <a:ext cx="3032125" cy="248158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5"/>
              </a:spcBef>
            </a:pPr>
            <a:r>
              <a:rPr dirty="0" sz="1200" spc="-10">
                <a:solidFill>
                  <a:srgbClr val="005463"/>
                </a:solidFill>
                <a:latin typeface="Tahoma"/>
                <a:cs typeface="Tahoma"/>
              </a:rPr>
              <a:t>Aims:</a:t>
            </a:r>
            <a:endParaRPr sz="12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54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20">
                <a:latin typeface="Tahoma"/>
                <a:cs typeface="Tahoma"/>
              </a:rPr>
              <a:t>Keypoints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moving</a:t>
            </a:r>
            <a:r>
              <a:rPr dirty="0" sz="1000" spc="-20">
                <a:latin typeface="Tahoma"/>
                <a:cs typeface="Tahoma"/>
              </a:rPr>
              <a:t> mice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without </a:t>
            </a:r>
            <a:r>
              <a:rPr dirty="0" sz="1000" spc="-30">
                <a:latin typeface="Tahoma"/>
                <a:cs typeface="Tahoma"/>
              </a:rPr>
              <a:t>physical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markers</a:t>
            </a:r>
            <a:endParaRPr sz="10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95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30">
                <a:latin typeface="Tahoma"/>
                <a:cs typeface="Tahoma"/>
              </a:rPr>
              <a:t>Multi-</a:t>
            </a:r>
            <a:r>
              <a:rPr dirty="0" sz="1000" spc="-20">
                <a:latin typeface="Tahoma"/>
                <a:cs typeface="Tahoma"/>
              </a:rPr>
              <a:t>camera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3D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triangulation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trajectories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005463"/>
                </a:solidFill>
                <a:latin typeface="Tahoma"/>
                <a:cs typeface="Tahoma"/>
              </a:rPr>
              <a:t>Challenge:</a:t>
            </a:r>
            <a:endParaRPr sz="12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50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10">
                <a:latin typeface="Tahoma"/>
                <a:cs typeface="Tahoma"/>
              </a:rPr>
              <a:t>Keypoint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consistency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across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views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 </a:t>
            </a:r>
            <a:r>
              <a:rPr dirty="0" sz="1000" spc="-10">
                <a:latin typeface="Tahoma"/>
                <a:cs typeface="Tahoma"/>
              </a:rPr>
              <a:t>frames</a:t>
            </a:r>
            <a:endParaRPr sz="10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95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35">
                <a:latin typeface="Tahoma"/>
                <a:cs typeface="Tahoma"/>
              </a:rPr>
              <a:t>Camera</a:t>
            </a:r>
            <a:r>
              <a:rPr dirty="0" sz="1000" spc="-25">
                <a:latin typeface="Tahoma"/>
                <a:cs typeface="Tahoma"/>
              </a:rPr>
              <a:t> calibration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and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synchronization</a:t>
            </a:r>
            <a:endParaRPr sz="10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95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35">
                <a:latin typeface="Tahoma"/>
                <a:cs typeface="Tahoma"/>
              </a:rPr>
              <a:t>High-</a:t>
            </a:r>
            <a:r>
              <a:rPr dirty="0" sz="1000" spc="-30">
                <a:latin typeface="Tahoma"/>
                <a:cs typeface="Tahoma"/>
              </a:rPr>
              <a:t>throughput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processing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pipeline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(large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data)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005463"/>
                </a:solidFill>
                <a:latin typeface="Tahoma"/>
                <a:cs typeface="Tahoma"/>
              </a:rPr>
              <a:t>Expectations:</a:t>
            </a:r>
            <a:endParaRPr sz="12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54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40">
                <a:latin typeface="Tahoma"/>
                <a:cs typeface="Tahoma"/>
              </a:rPr>
              <a:t>Codebase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35">
                <a:latin typeface="Tahoma"/>
                <a:cs typeface="Tahoma"/>
              </a:rPr>
              <a:t> detection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triangulation</a:t>
            </a:r>
            <a:endParaRPr sz="10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95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>
                <a:latin typeface="Tahoma"/>
                <a:cs typeface="Tahoma"/>
              </a:rPr>
              <a:t>3D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trajectories</a:t>
            </a:r>
            <a:r>
              <a:rPr dirty="0" sz="1000" spc="-10">
                <a:latin typeface="Tahoma"/>
                <a:cs typeface="Tahoma"/>
              </a:rPr>
              <a:t> for </a:t>
            </a:r>
            <a:r>
              <a:rPr dirty="0" sz="1000">
                <a:latin typeface="Tahoma"/>
                <a:cs typeface="Tahoma"/>
              </a:rPr>
              <a:t>all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videos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005463"/>
                </a:solidFill>
                <a:latin typeface="Tahoma"/>
                <a:cs typeface="Tahoma"/>
              </a:rPr>
              <a:t>Refs:</a:t>
            </a:r>
            <a:endParaRPr sz="1200">
              <a:latin typeface="Tahoma"/>
              <a:cs typeface="Tahoma"/>
            </a:endParaRPr>
          </a:p>
          <a:p>
            <a:pPr marL="276225" marR="414020" indent="-125095">
              <a:lnSpc>
                <a:spcPct val="100000"/>
              </a:lnSpc>
              <a:spcBef>
                <a:spcPts val="254"/>
              </a:spcBef>
              <a:buClr>
                <a:srgbClr val="005463"/>
              </a:buClr>
              <a:buFont typeface="Arial"/>
              <a:buChar char="•"/>
              <a:tabLst>
                <a:tab pos="278130" algn="l"/>
              </a:tabLst>
            </a:pPr>
            <a:r>
              <a:rPr dirty="0" sz="1000" spc="-25">
                <a:latin typeface="Tahoma"/>
                <a:cs typeface="Tahoma"/>
              </a:rPr>
              <a:t>DeepLabCut,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Jarvis, </a:t>
            </a:r>
            <a:r>
              <a:rPr dirty="0" sz="1000" spc="-10">
                <a:latin typeface="Tahoma"/>
                <a:cs typeface="Tahoma"/>
              </a:rPr>
              <a:t>	</a:t>
            </a:r>
            <a:r>
              <a:rPr dirty="0" sz="1000" spc="-35">
                <a:latin typeface="Tahoma"/>
                <a:cs typeface="Tahoma"/>
              </a:rPr>
              <a:t>https://doi.org/10.1038/s41592-</a:t>
            </a:r>
            <a:r>
              <a:rPr dirty="0" sz="1000" spc="-50">
                <a:latin typeface="Tahoma"/>
                <a:cs typeface="Tahoma"/>
              </a:rPr>
              <a:t>018-0234-5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600005" y="539996"/>
            <a:ext cx="1620520" cy="1762760"/>
            <a:chOff x="3600005" y="539996"/>
            <a:chExt cx="1620520" cy="176276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00005" y="539996"/>
              <a:ext cx="1620027" cy="49846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00005" y="1079985"/>
              <a:ext cx="1619961" cy="1222334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5300" y="2980560"/>
            <a:ext cx="1976755" cy="243204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200" spc="-45">
                <a:solidFill>
                  <a:srgbClr val="FF6A00"/>
                </a:solidFill>
                <a:latin typeface="Arial Black"/>
                <a:cs typeface="Arial Black"/>
              </a:rPr>
              <a:t>Prof.</a:t>
            </a:r>
            <a:r>
              <a:rPr dirty="0" sz="1200" spc="-5">
                <a:solidFill>
                  <a:srgbClr val="FF6A00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FF6A00"/>
                </a:solidFill>
                <a:latin typeface="Arial Black"/>
                <a:cs typeface="Arial Black"/>
              </a:rPr>
              <a:t>Dr.</a:t>
            </a:r>
            <a:r>
              <a:rPr dirty="0" sz="1200" spc="65">
                <a:solidFill>
                  <a:srgbClr val="FF6A00"/>
                </a:solidFill>
                <a:latin typeface="Arial Black"/>
                <a:cs typeface="Arial Black"/>
              </a:rPr>
              <a:t> </a:t>
            </a:r>
            <a:r>
              <a:rPr dirty="0" sz="1200" spc="-120">
                <a:solidFill>
                  <a:srgbClr val="FF6A00"/>
                </a:solidFill>
                <a:latin typeface="Arial Black"/>
                <a:cs typeface="Arial Black"/>
              </a:rPr>
              <a:t>Magda</a:t>
            </a:r>
            <a:r>
              <a:rPr dirty="0" sz="1200" spc="20">
                <a:solidFill>
                  <a:srgbClr val="FF6A00"/>
                </a:solidFill>
                <a:latin typeface="Arial Black"/>
                <a:cs typeface="Arial Black"/>
              </a:rPr>
              <a:t> </a:t>
            </a:r>
            <a:r>
              <a:rPr dirty="0" sz="1200" spc="-135">
                <a:solidFill>
                  <a:srgbClr val="FF6A00"/>
                </a:solidFill>
                <a:latin typeface="Arial Black"/>
                <a:cs typeface="Arial Black"/>
              </a:rPr>
              <a:t>Gregorová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556846" y="3113171"/>
            <a:ext cx="14922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20">
                <a:solidFill>
                  <a:srgbClr val="FF6A00"/>
                </a:solidFill>
                <a:latin typeface="Tahoma"/>
                <a:cs typeface="Tahoma"/>
              </a:rPr>
              <a:t>4</a:t>
            </a:r>
            <a:r>
              <a:rPr dirty="0" sz="500" spc="-65">
                <a:solidFill>
                  <a:srgbClr val="FF6A00"/>
                </a:solidFill>
                <a:latin typeface="Tahoma"/>
                <a:cs typeface="Tahoma"/>
              </a:rPr>
              <a:t> </a:t>
            </a:r>
            <a:r>
              <a:rPr dirty="0" sz="500" spc="75">
                <a:solidFill>
                  <a:srgbClr val="FF6A00"/>
                </a:solidFill>
                <a:latin typeface="Tahoma"/>
                <a:cs typeface="Tahoma"/>
              </a:rPr>
              <a:t>/</a:t>
            </a:r>
            <a:r>
              <a:rPr dirty="0" sz="500" spc="-65">
                <a:solidFill>
                  <a:srgbClr val="FF6A00"/>
                </a:solidFill>
                <a:latin typeface="Tahoma"/>
                <a:cs typeface="Tahoma"/>
              </a:rPr>
              <a:t> </a:t>
            </a:r>
            <a:r>
              <a:rPr dirty="0" sz="500" spc="-50">
                <a:solidFill>
                  <a:srgbClr val="FF6A00"/>
                </a:solidFill>
                <a:latin typeface="Tahoma"/>
                <a:cs typeface="Tahoma"/>
              </a:rPr>
              <a:t>7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25"/>
              <a:t>Satellite-</a:t>
            </a:r>
            <a:r>
              <a:rPr dirty="0" spc="-155"/>
              <a:t>based</a:t>
            </a:r>
            <a:r>
              <a:rPr dirty="0" spc="50"/>
              <a:t> </a:t>
            </a:r>
            <a:r>
              <a:rPr dirty="0" spc="-180"/>
              <a:t>measurements</a:t>
            </a:r>
            <a:r>
              <a:rPr dirty="0" spc="55"/>
              <a:t> </a:t>
            </a:r>
            <a:r>
              <a:rPr dirty="0" spc="-55"/>
              <a:t>of</a:t>
            </a:r>
            <a:r>
              <a:rPr dirty="0" spc="50"/>
              <a:t> </a:t>
            </a:r>
            <a:r>
              <a:rPr dirty="0" spc="-155"/>
              <a:t>crop</a:t>
            </a:r>
            <a:r>
              <a:rPr dirty="0" spc="50"/>
              <a:t> </a:t>
            </a:r>
            <a:r>
              <a:rPr dirty="0" spc="-125"/>
              <a:t>nitrogen</a:t>
            </a:r>
            <a:r>
              <a:rPr dirty="0" spc="55"/>
              <a:t> </a:t>
            </a:r>
            <a:r>
              <a:rPr dirty="0" spc="-114"/>
              <a:t>status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5804" y="84472"/>
            <a:ext cx="552090" cy="27669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14604" y="425924"/>
            <a:ext cx="3074035" cy="232981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5"/>
              </a:spcBef>
            </a:pPr>
            <a:r>
              <a:rPr dirty="0" sz="1200" spc="-10">
                <a:solidFill>
                  <a:srgbClr val="005463"/>
                </a:solidFill>
                <a:latin typeface="Tahoma"/>
                <a:cs typeface="Tahoma"/>
              </a:rPr>
              <a:t>Aims:</a:t>
            </a:r>
            <a:endParaRPr sz="12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54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>
                <a:latin typeface="Tahoma"/>
                <a:cs typeface="Tahoma"/>
              </a:rPr>
              <a:t>Predict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crop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nitrogen</a:t>
            </a:r>
            <a:r>
              <a:rPr dirty="0" sz="1000" spc="-25">
                <a:latin typeface="Tahoma"/>
                <a:cs typeface="Tahoma"/>
              </a:rPr>
              <a:t> status </a:t>
            </a:r>
            <a:r>
              <a:rPr dirty="0" sz="1000" spc="-10">
                <a:latin typeface="Tahoma"/>
                <a:cs typeface="Tahoma"/>
              </a:rPr>
              <a:t>from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Sentinel-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data</a:t>
            </a:r>
            <a:endParaRPr sz="10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95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10">
                <a:latin typeface="Tahoma"/>
                <a:cs typeface="Tahoma"/>
              </a:rPr>
              <a:t>Produce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maps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field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nitrogen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status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biomass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005463"/>
                </a:solidFill>
                <a:latin typeface="Tahoma"/>
                <a:cs typeface="Tahoma"/>
              </a:rPr>
              <a:t>Challenge:</a:t>
            </a:r>
            <a:endParaRPr sz="12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50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>
                <a:latin typeface="Tahoma"/>
                <a:cs typeface="Tahoma"/>
              </a:rPr>
              <a:t>High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(in-</a:t>
            </a:r>
            <a:r>
              <a:rPr dirty="0" sz="1000" spc="-10">
                <a:latin typeface="Tahoma"/>
                <a:cs typeface="Tahoma"/>
              </a:rPr>
              <a:t>field)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vs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low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(satellite)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resolution</a:t>
            </a:r>
            <a:endParaRPr sz="10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95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30">
                <a:latin typeface="Tahoma"/>
                <a:cs typeface="Tahoma"/>
              </a:rPr>
              <a:t>Temporal </a:t>
            </a:r>
            <a:r>
              <a:rPr dirty="0" sz="1000" spc="-25">
                <a:latin typeface="Tahoma"/>
                <a:cs typeface="Tahoma"/>
              </a:rPr>
              <a:t>interpolation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field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data</a:t>
            </a:r>
            <a:endParaRPr sz="10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95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20">
                <a:latin typeface="Tahoma"/>
                <a:cs typeface="Tahoma"/>
              </a:rPr>
              <a:t>Multi-spectral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spatio-</a:t>
            </a:r>
            <a:r>
              <a:rPr dirty="0" sz="1000" spc="-30">
                <a:latin typeface="Tahoma"/>
                <a:cs typeface="Tahoma"/>
              </a:rPr>
              <a:t>temporal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data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(large,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complex)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005463"/>
                </a:solidFill>
                <a:latin typeface="Tahoma"/>
                <a:cs typeface="Tahoma"/>
              </a:rPr>
              <a:t>Expectations:</a:t>
            </a:r>
            <a:endParaRPr sz="12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54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35">
                <a:latin typeface="Tahoma"/>
                <a:cs typeface="Tahoma"/>
              </a:rPr>
              <a:t>Identification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relevant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spectral</a:t>
            </a:r>
            <a:r>
              <a:rPr dirty="0" sz="1000" spc="-10">
                <a:latin typeface="Tahoma"/>
                <a:cs typeface="Tahoma"/>
              </a:rPr>
              <a:t> bands</a:t>
            </a:r>
            <a:endParaRPr sz="10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95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40">
                <a:latin typeface="Tahoma"/>
                <a:cs typeface="Tahoma"/>
              </a:rPr>
              <a:t>Codebase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geo-</a:t>
            </a:r>
            <a:r>
              <a:rPr dirty="0" sz="1000" spc="-45">
                <a:latin typeface="Tahoma"/>
                <a:cs typeface="Tahoma"/>
              </a:rPr>
              <a:t>processing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predictions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005463"/>
                </a:solidFill>
                <a:latin typeface="Tahoma"/>
                <a:cs typeface="Tahoma"/>
              </a:rPr>
              <a:t>Refs:</a:t>
            </a:r>
            <a:endParaRPr sz="12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54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35">
                <a:latin typeface="Tahoma"/>
                <a:cs typeface="Tahoma"/>
              </a:rPr>
              <a:t>TorchGeo,</a:t>
            </a:r>
            <a:r>
              <a:rPr dirty="0" sz="1000" spc="-10">
                <a:latin typeface="Tahoma"/>
                <a:cs typeface="Tahoma"/>
              </a:rPr>
              <a:t> https://arxiv.org/abs/2207.08051,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6134" y="456823"/>
            <a:ext cx="1408725" cy="22557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00005" y="828035"/>
            <a:ext cx="1620004" cy="206998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80352" y="2710728"/>
            <a:ext cx="2644140" cy="21082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000" spc="-30">
                <a:latin typeface="Tahoma"/>
                <a:cs typeface="Tahoma"/>
              </a:rPr>
              <a:t>https://github.com/satellite-</a:t>
            </a:r>
            <a:r>
              <a:rPr dirty="0" sz="1000" spc="-35">
                <a:latin typeface="Tahoma"/>
                <a:cs typeface="Tahoma"/>
              </a:rPr>
              <a:t>image-</a:t>
            </a:r>
            <a:r>
              <a:rPr dirty="0" sz="1000" spc="-50">
                <a:latin typeface="Tahoma"/>
                <a:cs typeface="Tahoma"/>
              </a:rPr>
              <a:t>deep-</a:t>
            </a:r>
            <a:r>
              <a:rPr dirty="0" sz="1000" spc="-20">
                <a:latin typeface="Tahoma"/>
                <a:cs typeface="Tahoma"/>
              </a:rPr>
              <a:t>learning,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5300" y="2980560"/>
            <a:ext cx="1976755" cy="243204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200" spc="-45">
                <a:solidFill>
                  <a:srgbClr val="FF6A00"/>
                </a:solidFill>
                <a:latin typeface="Arial Black"/>
                <a:cs typeface="Arial Black"/>
              </a:rPr>
              <a:t>Prof.</a:t>
            </a:r>
            <a:r>
              <a:rPr dirty="0" sz="1200" spc="-5">
                <a:solidFill>
                  <a:srgbClr val="FF6A00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FF6A00"/>
                </a:solidFill>
                <a:latin typeface="Arial Black"/>
                <a:cs typeface="Arial Black"/>
              </a:rPr>
              <a:t>Dr.</a:t>
            </a:r>
            <a:r>
              <a:rPr dirty="0" sz="1200" spc="65">
                <a:solidFill>
                  <a:srgbClr val="FF6A00"/>
                </a:solidFill>
                <a:latin typeface="Arial Black"/>
                <a:cs typeface="Arial Black"/>
              </a:rPr>
              <a:t> </a:t>
            </a:r>
            <a:r>
              <a:rPr dirty="0" sz="1200" spc="-120">
                <a:solidFill>
                  <a:srgbClr val="FF6A00"/>
                </a:solidFill>
                <a:latin typeface="Arial Black"/>
                <a:cs typeface="Arial Black"/>
              </a:rPr>
              <a:t>Magda</a:t>
            </a:r>
            <a:r>
              <a:rPr dirty="0" sz="1200" spc="20">
                <a:solidFill>
                  <a:srgbClr val="FF6A00"/>
                </a:solidFill>
                <a:latin typeface="Arial Black"/>
                <a:cs typeface="Arial Black"/>
              </a:rPr>
              <a:t> </a:t>
            </a:r>
            <a:r>
              <a:rPr dirty="0" sz="1200" spc="-135">
                <a:solidFill>
                  <a:srgbClr val="FF6A00"/>
                </a:solidFill>
                <a:latin typeface="Arial Black"/>
                <a:cs typeface="Arial Black"/>
              </a:rPr>
              <a:t>Gregorová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556846" y="3113171"/>
            <a:ext cx="14922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20">
                <a:solidFill>
                  <a:srgbClr val="FF6A00"/>
                </a:solidFill>
                <a:latin typeface="Tahoma"/>
                <a:cs typeface="Tahoma"/>
              </a:rPr>
              <a:t>5</a:t>
            </a:r>
            <a:r>
              <a:rPr dirty="0" sz="500" spc="-65">
                <a:solidFill>
                  <a:srgbClr val="FF6A00"/>
                </a:solidFill>
                <a:latin typeface="Tahoma"/>
                <a:cs typeface="Tahoma"/>
              </a:rPr>
              <a:t> </a:t>
            </a:r>
            <a:r>
              <a:rPr dirty="0" sz="500" spc="75">
                <a:solidFill>
                  <a:srgbClr val="FF6A00"/>
                </a:solidFill>
                <a:latin typeface="Tahoma"/>
                <a:cs typeface="Tahoma"/>
              </a:rPr>
              <a:t>/</a:t>
            </a:r>
            <a:r>
              <a:rPr dirty="0" sz="500" spc="-65">
                <a:solidFill>
                  <a:srgbClr val="FF6A00"/>
                </a:solidFill>
                <a:latin typeface="Tahoma"/>
                <a:cs typeface="Tahoma"/>
              </a:rPr>
              <a:t> </a:t>
            </a:r>
            <a:r>
              <a:rPr dirty="0" sz="500" spc="-50">
                <a:solidFill>
                  <a:srgbClr val="FF6A00"/>
                </a:solidFill>
                <a:latin typeface="Tahoma"/>
                <a:cs typeface="Tahoma"/>
              </a:rPr>
              <a:t>7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5"/>
              <a:t>Drug </a:t>
            </a:r>
            <a:r>
              <a:rPr dirty="0" spc="-165"/>
              <a:t>efficacy</a:t>
            </a:r>
            <a:r>
              <a:rPr dirty="0" spc="45"/>
              <a:t> </a:t>
            </a:r>
            <a:r>
              <a:rPr dirty="0" spc="-114"/>
              <a:t>on</a:t>
            </a:r>
            <a:r>
              <a:rPr dirty="0" spc="15"/>
              <a:t> </a:t>
            </a:r>
            <a:r>
              <a:rPr dirty="0" spc="-165"/>
              <a:t>pancreatic</a:t>
            </a:r>
            <a:r>
              <a:rPr dirty="0" spc="50"/>
              <a:t> </a:t>
            </a:r>
            <a:r>
              <a:rPr dirty="0" spc="-120"/>
              <a:t>tumor</a:t>
            </a:r>
            <a:r>
              <a:rPr dirty="0" spc="15"/>
              <a:t> </a:t>
            </a:r>
            <a:r>
              <a:rPr dirty="0"/>
              <a:t>3D</a:t>
            </a:r>
            <a:r>
              <a:rPr dirty="0" spc="15"/>
              <a:t> </a:t>
            </a:r>
            <a:r>
              <a:rPr dirty="0" spc="-140"/>
              <a:t>spheroids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5804" y="84472"/>
            <a:ext cx="552090" cy="27669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14604" y="425924"/>
            <a:ext cx="2929890" cy="232981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5"/>
              </a:spcBef>
            </a:pPr>
            <a:r>
              <a:rPr dirty="0" sz="1200" spc="-10">
                <a:solidFill>
                  <a:srgbClr val="005463"/>
                </a:solidFill>
                <a:latin typeface="Tahoma"/>
                <a:cs typeface="Tahoma"/>
              </a:rPr>
              <a:t>Aims:</a:t>
            </a:r>
            <a:endParaRPr sz="12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54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>
                <a:latin typeface="Tahoma"/>
                <a:cs typeface="Tahoma"/>
              </a:rPr>
              <a:t>Drug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efficacy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from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bright-</a:t>
            </a:r>
            <a:r>
              <a:rPr dirty="0" sz="1000" spc="-10">
                <a:latin typeface="Tahoma"/>
                <a:cs typeface="Tahoma"/>
              </a:rPr>
              <a:t>field</a:t>
            </a:r>
            <a:r>
              <a:rPr dirty="0" sz="1000" spc="-40">
                <a:latin typeface="Tahoma"/>
                <a:cs typeface="Tahoma"/>
              </a:rPr>
              <a:t> microscopy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images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005463"/>
                </a:solidFill>
                <a:latin typeface="Tahoma"/>
                <a:cs typeface="Tahoma"/>
              </a:rPr>
              <a:t>Challenge:</a:t>
            </a:r>
            <a:endParaRPr sz="12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54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10">
                <a:latin typeface="Tahoma"/>
                <a:cs typeface="Tahoma"/>
              </a:rPr>
              <a:t>Biology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bright-</a:t>
            </a:r>
            <a:r>
              <a:rPr dirty="0" sz="1000" spc="-10">
                <a:latin typeface="Tahoma"/>
                <a:cs typeface="Tahoma"/>
              </a:rPr>
              <a:t>field microscopy</a:t>
            </a:r>
            <a:endParaRPr sz="10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90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25">
                <a:latin typeface="Tahoma"/>
                <a:cs typeface="Tahoma"/>
              </a:rPr>
              <a:t>Laboratory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environment,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noisy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data</a:t>
            </a:r>
            <a:endParaRPr sz="10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95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20">
                <a:latin typeface="Tahoma"/>
                <a:cs typeface="Tahoma"/>
              </a:rPr>
              <a:t>Labelling </a:t>
            </a:r>
            <a:r>
              <a:rPr dirty="0" sz="1000" spc="-50">
                <a:latin typeface="Tahoma"/>
                <a:cs typeface="Tahoma"/>
              </a:rPr>
              <a:t>expensive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-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few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labelled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data</a:t>
            </a:r>
            <a:endParaRPr sz="10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95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45">
                <a:latin typeface="Tahoma"/>
                <a:cs typeface="Tahoma"/>
              </a:rPr>
              <a:t>Unsupervised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representation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learning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005463"/>
                </a:solidFill>
                <a:latin typeface="Tahoma"/>
                <a:cs typeface="Tahoma"/>
              </a:rPr>
              <a:t>Expectations:</a:t>
            </a:r>
            <a:endParaRPr sz="12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54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10">
                <a:latin typeface="Tahoma"/>
                <a:cs typeface="Tahoma"/>
              </a:rPr>
              <a:t>Pipeline</a:t>
            </a:r>
            <a:r>
              <a:rPr dirty="0" sz="1000" spc="-25">
                <a:latin typeface="Tahoma"/>
                <a:cs typeface="Tahoma"/>
              </a:rPr>
              <a:t> and </a:t>
            </a:r>
            <a:r>
              <a:rPr dirty="0" sz="1000" spc="-55">
                <a:latin typeface="Tahoma"/>
                <a:cs typeface="Tahoma"/>
              </a:rPr>
              <a:t>codebase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drug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efficacy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prediction</a:t>
            </a:r>
            <a:endParaRPr sz="10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95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10">
                <a:latin typeface="Tahoma"/>
                <a:cs typeface="Tahoma"/>
              </a:rPr>
              <a:t>Predictions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subset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data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005463"/>
                </a:solidFill>
                <a:latin typeface="Tahoma"/>
                <a:cs typeface="Tahoma"/>
              </a:rPr>
              <a:t>Refs:</a:t>
            </a:r>
            <a:endParaRPr sz="12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54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40">
                <a:latin typeface="Tahoma"/>
                <a:cs typeface="Tahoma"/>
              </a:rPr>
              <a:t>https://doi.org/10.1038/s41598-</a:t>
            </a:r>
            <a:r>
              <a:rPr dirty="0" sz="1000" spc="-55">
                <a:latin typeface="Tahoma"/>
                <a:cs typeface="Tahoma"/>
              </a:rPr>
              <a:t>023-33271-</a:t>
            </a:r>
            <a:r>
              <a:rPr dirty="0" sz="1000" spc="-25">
                <a:latin typeface="Tahoma"/>
                <a:cs typeface="Tahoma"/>
              </a:rPr>
              <a:t>3,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639244" y="469435"/>
            <a:ext cx="1898650" cy="1376045"/>
            <a:chOff x="3639244" y="469435"/>
            <a:chExt cx="1898650" cy="137604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0479" y="469435"/>
              <a:ext cx="1316092" cy="35998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39244" y="863967"/>
              <a:ext cx="1898195" cy="980979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50004" y="1916457"/>
            <a:ext cx="1072486" cy="690422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80352" y="2710728"/>
            <a:ext cx="3975735" cy="21082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000" spc="-35">
                <a:latin typeface="Tahoma"/>
                <a:cs typeface="Tahoma"/>
              </a:rPr>
              <a:t>https://advanced.onlinelibrary.wiley.com/doi/full/10.1002/advs.202406608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5300" y="2980560"/>
            <a:ext cx="1976755" cy="243204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200" spc="-45">
                <a:solidFill>
                  <a:srgbClr val="FF6A00"/>
                </a:solidFill>
                <a:latin typeface="Arial Black"/>
                <a:cs typeface="Arial Black"/>
              </a:rPr>
              <a:t>Prof.</a:t>
            </a:r>
            <a:r>
              <a:rPr dirty="0" sz="1200" spc="-5">
                <a:solidFill>
                  <a:srgbClr val="FF6A00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FF6A00"/>
                </a:solidFill>
                <a:latin typeface="Arial Black"/>
                <a:cs typeface="Arial Black"/>
              </a:rPr>
              <a:t>Dr.</a:t>
            </a:r>
            <a:r>
              <a:rPr dirty="0" sz="1200" spc="65">
                <a:solidFill>
                  <a:srgbClr val="FF6A00"/>
                </a:solidFill>
                <a:latin typeface="Arial Black"/>
                <a:cs typeface="Arial Black"/>
              </a:rPr>
              <a:t> </a:t>
            </a:r>
            <a:r>
              <a:rPr dirty="0" sz="1200" spc="-120">
                <a:solidFill>
                  <a:srgbClr val="FF6A00"/>
                </a:solidFill>
                <a:latin typeface="Arial Black"/>
                <a:cs typeface="Arial Black"/>
              </a:rPr>
              <a:t>Magda</a:t>
            </a:r>
            <a:r>
              <a:rPr dirty="0" sz="1200" spc="20">
                <a:solidFill>
                  <a:srgbClr val="FF6A00"/>
                </a:solidFill>
                <a:latin typeface="Arial Black"/>
                <a:cs typeface="Arial Black"/>
              </a:rPr>
              <a:t> </a:t>
            </a:r>
            <a:r>
              <a:rPr dirty="0" sz="1200" spc="-135">
                <a:solidFill>
                  <a:srgbClr val="FF6A00"/>
                </a:solidFill>
                <a:latin typeface="Arial Black"/>
                <a:cs typeface="Arial Black"/>
              </a:rPr>
              <a:t>Gregorová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556846" y="3113171"/>
            <a:ext cx="14922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20">
                <a:solidFill>
                  <a:srgbClr val="FF6A00"/>
                </a:solidFill>
                <a:latin typeface="Tahoma"/>
                <a:cs typeface="Tahoma"/>
              </a:rPr>
              <a:t>6</a:t>
            </a:r>
            <a:r>
              <a:rPr dirty="0" sz="500" spc="-65">
                <a:solidFill>
                  <a:srgbClr val="FF6A00"/>
                </a:solidFill>
                <a:latin typeface="Tahoma"/>
                <a:cs typeface="Tahoma"/>
              </a:rPr>
              <a:t> </a:t>
            </a:r>
            <a:r>
              <a:rPr dirty="0" sz="500" spc="75">
                <a:solidFill>
                  <a:srgbClr val="FF6A00"/>
                </a:solidFill>
                <a:latin typeface="Tahoma"/>
                <a:cs typeface="Tahoma"/>
              </a:rPr>
              <a:t>/</a:t>
            </a:r>
            <a:r>
              <a:rPr dirty="0" sz="500" spc="-65">
                <a:solidFill>
                  <a:srgbClr val="FF6A00"/>
                </a:solidFill>
                <a:latin typeface="Tahoma"/>
                <a:cs typeface="Tahoma"/>
              </a:rPr>
              <a:t> </a:t>
            </a:r>
            <a:r>
              <a:rPr dirty="0" sz="500" spc="-50">
                <a:solidFill>
                  <a:srgbClr val="FF6A00"/>
                </a:solidFill>
                <a:latin typeface="Tahoma"/>
                <a:cs typeface="Tahoma"/>
              </a:rPr>
              <a:t>7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25"/>
              <a:t>Detection</a:t>
            </a:r>
            <a:r>
              <a:rPr dirty="0" spc="5"/>
              <a:t> </a:t>
            </a:r>
            <a:r>
              <a:rPr dirty="0" spc="-55"/>
              <a:t>of</a:t>
            </a:r>
            <a:r>
              <a:rPr dirty="0" spc="35"/>
              <a:t> </a:t>
            </a:r>
            <a:r>
              <a:rPr dirty="0" spc="-160"/>
              <a:t>helicobacter</a:t>
            </a:r>
            <a:r>
              <a:rPr dirty="0" spc="40"/>
              <a:t> </a:t>
            </a:r>
            <a:r>
              <a:rPr dirty="0" spc="-130"/>
              <a:t>pylori</a:t>
            </a:r>
            <a:r>
              <a:rPr dirty="0" spc="35"/>
              <a:t> </a:t>
            </a:r>
            <a:r>
              <a:rPr dirty="0" spc="-75"/>
              <a:t>in</a:t>
            </a:r>
            <a:r>
              <a:rPr dirty="0" spc="30"/>
              <a:t> </a:t>
            </a:r>
            <a:r>
              <a:rPr dirty="0" spc="-160"/>
              <a:t>gastric</a:t>
            </a:r>
            <a:r>
              <a:rPr dirty="0" spc="45"/>
              <a:t> </a:t>
            </a:r>
            <a:r>
              <a:rPr dirty="0" spc="-105"/>
              <a:t>biopsy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5804" y="84472"/>
            <a:ext cx="552090" cy="27669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14604" y="365192"/>
            <a:ext cx="2855595" cy="248158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5"/>
              </a:spcBef>
            </a:pPr>
            <a:r>
              <a:rPr dirty="0" sz="1200" spc="-10">
                <a:solidFill>
                  <a:srgbClr val="005463"/>
                </a:solidFill>
                <a:latin typeface="Tahoma"/>
                <a:cs typeface="Tahoma"/>
              </a:rPr>
              <a:t>Aims:</a:t>
            </a:r>
            <a:endParaRPr sz="12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54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45">
                <a:latin typeface="Tahoma"/>
                <a:cs typeface="Tahoma"/>
              </a:rPr>
              <a:t>Speed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up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tissue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histopathology</a:t>
            </a:r>
            <a:endParaRPr sz="10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95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35">
                <a:latin typeface="Tahoma"/>
                <a:cs typeface="Tahoma"/>
              </a:rPr>
              <a:t>Identify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suspicious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regions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clinician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005463"/>
                </a:solidFill>
                <a:latin typeface="Tahoma"/>
                <a:cs typeface="Tahoma"/>
              </a:rPr>
              <a:t>Challenge:</a:t>
            </a:r>
            <a:endParaRPr sz="12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50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20">
                <a:latin typeface="Tahoma"/>
                <a:cs typeface="Tahoma"/>
              </a:rPr>
              <a:t>Biology,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histopathology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data</a:t>
            </a:r>
            <a:endParaRPr sz="10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95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30">
                <a:latin typeface="Tahoma"/>
                <a:cs typeface="Tahoma"/>
              </a:rPr>
              <a:t>Large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size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(100k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x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50k),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low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prevalence</a:t>
            </a:r>
            <a:endParaRPr sz="10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95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25">
                <a:latin typeface="Tahoma"/>
                <a:cs typeface="Tahoma"/>
              </a:rPr>
              <a:t>Weak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labelling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with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missing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labels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005463"/>
                </a:solidFill>
                <a:latin typeface="Tahoma"/>
                <a:cs typeface="Tahoma"/>
              </a:rPr>
              <a:t>Expectations:</a:t>
            </a:r>
            <a:endParaRPr sz="12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54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>
                <a:latin typeface="Tahoma"/>
                <a:cs typeface="Tahoma"/>
              </a:rPr>
              <a:t>Active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learning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approach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weak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labeling</a:t>
            </a:r>
            <a:endParaRPr sz="1000">
              <a:latin typeface="Tahoma"/>
              <a:cs typeface="Tahoma"/>
            </a:endParaRPr>
          </a:p>
          <a:p>
            <a:pPr marL="276860" indent="-125095">
              <a:lnSpc>
                <a:spcPct val="100000"/>
              </a:lnSpc>
              <a:spcBef>
                <a:spcPts val="295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10">
                <a:latin typeface="Tahoma"/>
                <a:cs typeface="Tahoma"/>
              </a:rPr>
              <a:t>Pipeline</a:t>
            </a:r>
            <a:r>
              <a:rPr dirty="0" sz="1000" spc="-25">
                <a:latin typeface="Tahoma"/>
                <a:cs typeface="Tahoma"/>
              </a:rPr>
              <a:t> and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codebase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helicobacter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detection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005463"/>
                </a:solidFill>
                <a:latin typeface="Tahoma"/>
                <a:cs typeface="Tahoma"/>
              </a:rPr>
              <a:t>Refs:</a:t>
            </a:r>
            <a:endParaRPr sz="1200">
              <a:latin typeface="Tahoma"/>
              <a:cs typeface="Tahoma"/>
            </a:endParaRPr>
          </a:p>
          <a:p>
            <a:pPr marL="276860" indent="-125095">
              <a:lnSpc>
                <a:spcPts val="1200"/>
              </a:lnSpc>
              <a:spcBef>
                <a:spcPts val="254"/>
              </a:spcBef>
              <a:buClr>
                <a:srgbClr val="005463"/>
              </a:buClr>
              <a:buFont typeface="Arial"/>
              <a:buChar char="•"/>
              <a:tabLst>
                <a:tab pos="276860" algn="l"/>
              </a:tabLst>
            </a:pPr>
            <a:r>
              <a:rPr dirty="0" sz="1000" spc="-60">
                <a:latin typeface="Tahoma"/>
                <a:cs typeface="Tahoma"/>
              </a:rPr>
              <a:t>10.1007/s10278-024-01021-</a:t>
            </a:r>
            <a:r>
              <a:rPr dirty="0" sz="1000" spc="-25">
                <a:latin typeface="Tahoma"/>
                <a:cs typeface="Tahoma"/>
              </a:rPr>
              <a:t>0,</a:t>
            </a:r>
            <a:endParaRPr sz="1000">
              <a:latin typeface="Tahoma"/>
              <a:cs typeface="Tahoma"/>
            </a:endParaRPr>
          </a:p>
          <a:p>
            <a:pPr marL="278130">
              <a:lnSpc>
                <a:spcPts val="1200"/>
              </a:lnSpc>
            </a:pPr>
            <a:r>
              <a:rPr dirty="0" sz="1000" spc="-40">
                <a:latin typeface="Tahoma"/>
                <a:cs typeface="Tahoma"/>
              </a:rPr>
              <a:t>https://doi.org/10.1186/s12876-</a:t>
            </a:r>
            <a:r>
              <a:rPr dirty="0" sz="1000" spc="-55">
                <a:latin typeface="Tahoma"/>
                <a:cs typeface="Tahoma"/>
              </a:rPr>
              <a:t>020-01494-</a:t>
            </a:r>
            <a:r>
              <a:rPr dirty="0" sz="1000" spc="-25">
                <a:latin typeface="Tahoma"/>
                <a:cs typeface="Tahoma"/>
              </a:rPr>
              <a:t>7,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80002" y="545752"/>
            <a:ext cx="1313299" cy="21312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00005" y="863978"/>
            <a:ext cx="1795236" cy="179523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95300" y="2801825"/>
            <a:ext cx="2781300" cy="42164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397510">
              <a:lnSpc>
                <a:spcPct val="100000"/>
              </a:lnSpc>
              <a:spcBef>
                <a:spcPts val="250"/>
              </a:spcBef>
            </a:pPr>
            <a:r>
              <a:rPr dirty="0" sz="1000" spc="-20">
                <a:latin typeface="Tahoma"/>
                <a:cs typeface="Tahoma"/>
              </a:rPr>
              <a:t>https://docs.ultralytics.com/models/yolo11/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1200" spc="-45">
                <a:solidFill>
                  <a:srgbClr val="FF6A00"/>
                </a:solidFill>
                <a:latin typeface="Arial Black"/>
                <a:cs typeface="Arial Black"/>
              </a:rPr>
              <a:t>Prof.</a:t>
            </a:r>
            <a:r>
              <a:rPr dirty="0" sz="1200" spc="-5">
                <a:solidFill>
                  <a:srgbClr val="FF6A00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FF6A00"/>
                </a:solidFill>
                <a:latin typeface="Arial Black"/>
                <a:cs typeface="Arial Black"/>
              </a:rPr>
              <a:t>Dr.</a:t>
            </a:r>
            <a:r>
              <a:rPr dirty="0" sz="1200" spc="65">
                <a:solidFill>
                  <a:srgbClr val="FF6A00"/>
                </a:solidFill>
                <a:latin typeface="Arial Black"/>
                <a:cs typeface="Arial Black"/>
              </a:rPr>
              <a:t> </a:t>
            </a:r>
            <a:r>
              <a:rPr dirty="0" sz="1200" spc="-120">
                <a:solidFill>
                  <a:srgbClr val="FF6A00"/>
                </a:solidFill>
                <a:latin typeface="Arial Black"/>
                <a:cs typeface="Arial Black"/>
              </a:rPr>
              <a:t>Magda</a:t>
            </a:r>
            <a:r>
              <a:rPr dirty="0" sz="1200" spc="20">
                <a:solidFill>
                  <a:srgbClr val="FF6A00"/>
                </a:solidFill>
                <a:latin typeface="Arial Black"/>
                <a:cs typeface="Arial Black"/>
              </a:rPr>
              <a:t> </a:t>
            </a:r>
            <a:r>
              <a:rPr dirty="0" sz="1200" spc="-40">
                <a:solidFill>
                  <a:srgbClr val="FF6A00"/>
                </a:solidFill>
                <a:latin typeface="Arial Black"/>
                <a:cs typeface="Arial Black"/>
              </a:rPr>
              <a:t>Gregorová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556846" y="3113171"/>
            <a:ext cx="14922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20">
                <a:solidFill>
                  <a:srgbClr val="FF6A00"/>
                </a:solidFill>
                <a:latin typeface="Tahoma"/>
                <a:cs typeface="Tahoma"/>
              </a:rPr>
              <a:t>7</a:t>
            </a:r>
            <a:r>
              <a:rPr dirty="0" sz="500" spc="-65">
                <a:solidFill>
                  <a:srgbClr val="FF6A00"/>
                </a:solidFill>
                <a:latin typeface="Tahoma"/>
                <a:cs typeface="Tahoma"/>
              </a:rPr>
              <a:t> </a:t>
            </a:r>
            <a:r>
              <a:rPr dirty="0" sz="500" spc="75">
                <a:solidFill>
                  <a:srgbClr val="FF6A00"/>
                </a:solidFill>
                <a:latin typeface="Tahoma"/>
                <a:cs typeface="Tahoma"/>
              </a:rPr>
              <a:t>/</a:t>
            </a:r>
            <a:r>
              <a:rPr dirty="0" sz="500" spc="-65">
                <a:solidFill>
                  <a:srgbClr val="FF6A00"/>
                </a:solidFill>
                <a:latin typeface="Tahoma"/>
                <a:cs typeface="Tahoma"/>
              </a:rPr>
              <a:t> </a:t>
            </a:r>
            <a:r>
              <a:rPr dirty="0" sz="500" spc="-50">
                <a:solidFill>
                  <a:srgbClr val="FF6A00"/>
                </a:solidFill>
                <a:latin typeface="Tahoma"/>
                <a:cs typeface="Tahoma"/>
              </a:rPr>
              <a:t>7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2025-10-08T19:26:35Z</dcterms:created>
  <dcterms:modified xsi:type="dcterms:W3CDTF">2025-10-08T19:26:35Z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2025-10-08T00:00:00Z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2025-10-08T00:00:00Z</vt:filetime>
  </property>
</Properties>
</file>